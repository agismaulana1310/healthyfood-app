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93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6BAC-6A41-F6E1-7168-08D564636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C776A-26F4-B489-CCA7-A66925E6F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893B1-6EB8-CEEA-31B4-9F45C1E9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E540D-95DF-0F64-6CCF-49B3E2E8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EA99-7DDE-A3D8-3752-153DD2E5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765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ADFF2-5380-CBDE-A728-18C22722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4518-14B4-6F7C-64B7-7E8FF01E3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5F68-EBA6-704E-2D73-F50E33F3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44CE7-F368-F49A-B39B-25B4301E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3A7D-24F6-5527-1796-FD57EBF4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457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F746C-6B9F-99B1-3E5A-1901C6BD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271EC-C84D-01D2-1CD3-801880BA5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25FE7-8CA6-D97B-6806-5BE73A5A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EE637-705C-E497-1B3E-64A8116B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D6575-E8E2-C4C2-5F27-E8D1B06D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055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C009-9E29-D231-8337-943A0428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7A95B-7E2E-1EB9-40DF-FAA6086F1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56507-8187-4B59-D588-06D96A4B7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38D13-A9E8-5822-7F80-B98118E6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7B37A-0FF8-2BCB-B1BE-D96BA10D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3AD5-4FBE-518F-95F9-FD0F74C1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552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CFF7-E1C8-0872-DE15-14D88A52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21F1C-BEF5-BE5D-4D0F-B5AF99DD6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956AD-9F3B-3454-E7E5-C17EEF52A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0F03ED-5576-59D4-ED8A-CB7E97626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16371-C95C-1514-EA3F-767E21EEB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4AA93-6AC2-FC57-FAEF-A757E9064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611424-9560-FE51-BDF5-48EE370F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68CC6-FD46-5046-6A53-AF913BAF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862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51F1E-3945-8FB4-E04A-4133772B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45FAA-0451-0083-A819-7F29BBD7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5CF92-5AA1-C112-2860-1F178D4C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46203-91F8-C924-8DB9-B2021A58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6257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6168E-BF66-594F-B9FF-BC454B7BC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2EA38-371F-8B8B-AF38-953C0BA1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E71E0-0375-AE63-3971-8B9DC1D7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847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3852-B9D9-F05C-6EC7-9BBA4BA5F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AFAD-4D31-059A-AC8C-6C7BBDC89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DBBCC-F350-5823-61E7-CEFBCDC52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E43B6-6AAF-DB83-BBB7-4FDE7196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C96E4-C5DD-BBE7-6A47-98BA76E3C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FA0E8-BEB0-92E8-28A7-220E2135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6220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309A-77B7-3ABB-3F3F-D87A7A74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0B19B-1501-8F79-808A-7D618E2C9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20A2E-7CE6-552E-0190-BED95CBE9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FA875-B67B-35A7-ED5D-C5D11BCA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5ECB7-43CD-1A2E-F552-8B04D64B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E004B-9EEB-B20D-0365-D9DAFD91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9686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DF30-1B69-9531-52DE-70F9EE3BA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40358-7FA8-783E-F2CD-53E647FF8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A697C-7CC0-4779-6CB5-686A59CC5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12F47-9798-A230-BA7A-57095F08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03186-F17C-AD5F-0D63-01B2530A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671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ADB5FC-D2F8-8FF7-E0D5-ACCDE7A16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C52C7-C233-D033-E4E7-2718E5D68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ED97-CCB3-7205-73EF-CE0AC41D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CC915-1186-1BEC-8CE2-FCC0D38C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12472-288A-DDBD-588D-08FB0B54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746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E87FD3-CBDA-4723-C684-45CEC63A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47C3-B96A-774F-A8D8-A36BCCEAF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2FCE8-F5E5-3EDC-376C-BCCD5E8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659AB-A965-4B81-9B7A-B33F8E2C8958}" type="datetimeFigureOut">
              <a:rPr lang="en-ID" smtClean="0"/>
              <a:t>07/03/2025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39CC7-80C8-CF13-FF98-9C1D4BBD6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57FC5-5138-C96B-7C17-DC69A07A8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9E3A0-89DB-4A3C-BD91-BA15F2D46AA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055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Paper%20K-9%20Pelaporan%20Hasil%20Audit%20Dan%20Tindak%20Lanjut%20Audit%20Internal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5EC3-8C9E-F518-C809-EBD642828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n-NO" dirty="0"/>
              <a:t>Teknik Rekapitulasi Audit Sistem Informasi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E659F-0D41-3474-908F-DDB04103B0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90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D2B8-1F26-8DF5-AE0E-08B8B3CB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BD528-3102-197A-7241-E1F7298AA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Rekapitulasi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audit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proses </a:t>
            </a:r>
            <a:r>
              <a:rPr lang="en-ID" dirty="0" err="1"/>
              <a:t>merangkum</a:t>
            </a:r>
            <a:r>
              <a:rPr lang="en-ID" dirty="0"/>
              <a:t> dan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yang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audit. </a:t>
            </a:r>
            <a:r>
              <a:rPr lang="en-ID" dirty="0" err="1"/>
              <a:t>Rekapitulasi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bukti</a:t>
            </a:r>
            <a:r>
              <a:rPr lang="en-ID" dirty="0"/>
              <a:t> audit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dikumpulkan</a:t>
            </a:r>
            <a:r>
              <a:rPr lang="en-ID" dirty="0"/>
              <a:t>, </a:t>
            </a:r>
            <a:r>
              <a:rPr lang="en-ID" dirty="0" err="1"/>
              <a:t>dianalisis</a:t>
            </a:r>
            <a:r>
              <a:rPr lang="en-ID" dirty="0"/>
              <a:t>, dan </a:t>
            </a:r>
            <a:r>
              <a:rPr lang="en-ID" dirty="0" err="1"/>
              <a:t>disajikan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 dan </a:t>
            </a:r>
            <a:r>
              <a:rPr lang="en-ID" dirty="0" err="1"/>
              <a:t>bermanfaat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pemangku</a:t>
            </a:r>
            <a:r>
              <a:rPr lang="en-ID" dirty="0"/>
              <a:t> </a:t>
            </a:r>
            <a:r>
              <a:rPr lang="en-ID" dirty="0" err="1"/>
              <a:t>kepentingan</a:t>
            </a:r>
            <a:r>
              <a:rPr lang="en-ID" dirty="0"/>
              <a:t>.</a:t>
            </a:r>
          </a:p>
          <a:p>
            <a:r>
              <a:rPr lang="en-ID" dirty="0" err="1"/>
              <a:t>Standar</a:t>
            </a:r>
            <a:r>
              <a:rPr lang="en-ID" dirty="0"/>
              <a:t> Audit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(SASI)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Ikatan</a:t>
            </a:r>
            <a:r>
              <a:rPr lang="en-ID" dirty="0"/>
              <a:t> Audit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Indonesia (IASII) </a:t>
            </a:r>
            <a:r>
              <a:rPr lang="en-ID" dirty="0" err="1"/>
              <a:t>menekankan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pelaksanaan</a:t>
            </a:r>
            <a:r>
              <a:rPr lang="en-ID" dirty="0"/>
              <a:t> audit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mendokumentasikan</a:t>
            </a:r>
            <a:r>
              <a:rPr lang="en-ID" dirty="0"/>
              <a:t> </a:t>
            </a:r>
            <a:r>
              <a:rPr lang="en-ID" dirty="0" err="1"/>
              <a:t>bukti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 dan </a:t>
            </a:r>
            <a:r>
              <a:rPr lang="en-ID" dirty="0" err="1"/>
              <a:t>melaporkannya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format yang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profesional</a:t>
            </a:r>
            <a:r>
              <a:rPr lang="en-ID" dirty="0"/>
              <a:t>​.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290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3D6E-4852-EE9B-FC60-8EF1F85E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A. </a:t>
            </a:r>
            <a:r>
              <a:rPr lang="en-ID" dirty="0" err="1"/>
              <a:t>Pengumpulan</a:t>
            </a:r>
            <a:r>
              <a:rPr lang="en-ID" dirty="0"/>
              <a:t> dan </a:t>
            </a:r>
            <a:r>
              <a:rPr lang="en-ID" dirty="0" err="1"/>
              <a:t>Klasifikasi</a:t>
            </a:r>
            <a:r>
              <a:rPr lang="en-ID" dirty="0"/>
              <a:t> Bukti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41CE-9BC3-6CD5-AD5D-BE6DAF7E4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b="1" dirty="0" err="1"/>
              <a:t>Mengidentifikasi</a:t>
            </a:r>
            <a:r>
              <a:rPr lang="en-ID" b="1" dirty="0"/>
              <a:t> Bukti Audit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Bukti audit </a:t>
            </a:r>
            <a:r>
              <a:rPr lang="en-ID" dirty="0" err="1"/>
              <a:t>diklasifikasikan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, </a:t>
            </a:r>
            <a:r>
              <a:rPr lang="en-ID" dirty="0" err="1"/>
              <a:t>kebijakan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, </a:t>
            </a:r>
            <a:r>
              <a:rPr lang="en-ID" dirty="0" err="1"/>
              <a:t>dokumentasi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, dan data </a:t>
            </a:r>
            <a:r>
              <a:rPr lang="en-ID" dirty="0" err="1"/>
              <a:t>transaksi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i="1" dirty="0"/>
              <a:t>sampling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memeriksa</a:t>
            </a:r>
            <a:r>
              <a:rPr lang="en-ID" dirty="0"/>
              <a:t> data yang </a:t>
            </a:r>
            <a:r>
              <a:rPr lang="en-ID" dirty="0" err="1"/>
              <a:t>representatif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 err="1"/>
              <a:t>Penyusunan</a:t>
            </a:r>
            <a:r>
              <a:rPr lang="en-ID" b="1" dirty="0"/>
              <a:t> </a:t>
            </a:r>
            <a:r>
              <a:rPr lang="en-ID" b="1" dirty="0" err="1"/>
              <a:t>Kertas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r>
              <a:rPr lang="en-ID" b="1" dirty="0"/>
              <a:t> Audit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didokumentasikan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kertas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audit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dan </a:t>
            </a:r>
            <a:r>
              <a:rPr lang="en-ID" dirty="0" err="1"/>
              <a:t>penyusunan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Kertas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temuan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, </a:t>
            </a:r>
            <a:r>
              <a:rPr lang="en-ID" dirty="0" err="1"/>
              <a:t>rekomendasi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audit.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587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02B9-9CFD-3393-2D58-26845490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B. </a:t>
            </a:r>
            <a:r>
              <a:rPr lang="en-ID" dirty="0" err="1"/>
              <a:t>Analisis</a:t>
            </a:r>
            <a:r>
              <a:rPr lang="en-ID" dirty="0"/>
              <a:t> Data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F57B6-C93F-EF07-C473-4592C5E3C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b="1" dirty="0" err="1"/>
              <a:t>Analisis</a:t>
            </a:r>
            <a:r>
              <a:rPr lang="en-ID" b="1" dirty="0"/>
              <a:t> </a:t>
            </a:r>
            <a:r>
              <a:rPr lang="en-ID" b="1" dirty="0" err="1"/>
              <a:t>Statistik</a:t>
            </a:r>
            <a:r>
              <a:rPr lang="en-ID" b="1" dirty="0"/>
              <a:t> dan </a:t>
            </a:r>
            <a:r>
              <a:rPr lang="en-ID" b="1" dirty="0" err="1"/>
              <a:t>Korelasi</a:t>
            </a:r>
            <a:r>
              <a:rPr lang="en-ID" b="1" dirty="0"/>
              <a:t> Data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statistik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anomali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CAAT (Computer-Assisted Audit Techniques)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data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 err="1"/>
              <a:t>Penyusunan</a:t>
            </a:r>
            <a:r>
              <a:rPr lang="en-ID" b="1" dirty="0"/>
              <a:t> </a:t>
            </a:r>
            <a:r>
              <a:rPr lang="en-ID" b="1" dirty="0" err="1"/>
              <a:t>Temuan</a:t>
            </a:r>
            <a:r>
              <a:rPr lang="en-ID" b="1" dirty="0"/>
              <a:t> Audit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Mengelompokkan</a:t>
            </a:r>
            <a:r>
              <a:rPr lang="en-ID" dirty="0"/>
              <a:t> </a:t>
            </a:r>
            <a:r>
              <a:rPr lang="en-ID" dirty="0" err="1"/>
              <a:t>temuan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kelemahan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, </a:t>
            </a:r>
            <a:r>
              <a:rPr lang="en-ID" dirty="0" err="1"/>
              <a:t>ketidaksesuaian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, dan </a:t>
            </a:r>
            <a:r>
              <a:rPr lang="en-ID" dirty="0" err="1"/>
              <a:t>ketidakefektifan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dan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temuan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2166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0F93-3289-89B5-14D8-7DB03DFC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C. </a:t>
            </a:r>
            <a:r>
              <a:rPr lang="en-ID" dirty="0" err="1"/>
              <a:t>Penyusunan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61325-7827-05AF-3AA1-8D7A26F6A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1463040"/>
            <a:ext cx="10707624" cy="47139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 err="1"/>
              <a:t>Pembuatan</a:t>
            </a:r>
            <a:r>
              <a:rPr lang="en-ID" b="1" dirty="0"/>
              <a:t> </a:t>
            </a:r>
            <a:r>
              <a:rPr lang="en-ID" b="1" dirty="0" err="1"/>
              <a:t>Ringkasan</a:t>
            </a:r>
            <a:r>
              <a:rPr lang="en-ID" b="1" dirty="0"/>
              <a:t> </a:t>
            </a:r>
            <a:r>
              <a:rPr lang="en-ID" b="1" dirty="0" err="1"/>
              <a:t>Temuan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Menyusun </a:t>
            </a:r>
            <a:r>
              <a:rPr lang="en-ID" dirty="0" err="1"/>
              <a:t>temuan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format yang </a:t>
            </a:r>
            <a:r>
              <a:rPr lang="en-ID" dirty="0" err="1"/>
              <a:t>jelas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oleh </a:t>
            </a:r>
            <a:r>
              <a:rPr lang="en-ID" dirty="0" err="1"/>
              <a:t>manajemen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Mencantumkan</a:t>
            </a:r>
            <a:r>
              <a:rPr lang="en-ID" dirty="0"/>
              <a:t> </a:t>
            </a:r>
            <a:r>
              <a:rPr lang="en-ID" dirty="0" err="1"/>
              <a:t>bukti</a:t>
            </a:r>
            <a:r>
              <a:rPr lang="en-ID" dirty="0"/>
              <a:t> dan </a:t>
            </a:r>
            <a:r>
              <a:rPr lang="en-ID" dirty="0" err="1"/>
              <a:t>analisis</a:t>
            </a:r>
            <a:r>
              <a:rPr lang="en-ID" dirty="0"/>
              <a:t> yang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temuan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b="1" dirty="0" err="1"/>
              <a:t>Rekomendasi</a:t>
            </a:r>
            <a:r>
              <a:rPr lang="en-ID" b="1" dirty="0"/>
              <a:t> dan </a:t>
            </a:r>
            <a:r>
              <a:rPr lang="en-ID" b="1" dirty="0" err="1"/>
              <a:t>Tindak</a:t>
            </a:r>
            <a:r>
              <a:rPr lang="en-ID" b="1" dirty="0"/>
              <a:t> </a:t>
            </a:r>
            <a:r>
              <a:rPr lang="en-ID" b="1" dirty="0" err="1"/>
              <a:t>Lanjut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Memberikan</a:t>
            </a:r>
            <a:r>
              <a:rPr lang="en-ID" dirty="0"/>
              <a:t> saran </a:t>
            </a:r>
            <a:r>
              <a:rPr lang="en-ID" dirty="0" err="1"/>
              <a:t>perbaikan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COBIT </a:t>
            </a:r>
            <a:r>
              <a:rPr lang="en-ID" dirty="0" err="1"/>
              <a:t>atau</a:t>
            </a:r>
            <a:r>
              <a:rPr lang="en-ID" dirty="0"/>
              <a:t> ISO 27001.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Menyusun </a:t>
            </a:r>
            <a:r>
              <a:rPr lang="en-ID" dirty="0" err="1"/>
              <a:t>rencana</a:t>
            </a:r>
            <a:r>
              <a:rPr lang="en-ID" dirty="0"/>
              <a:t> </a:t>
            </a:r>
            <a:r>
              <a:rPr lang="en-ID" dirty="0" err="1"/>
              <a:t>tindakan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memperbaiki</a:t>
            </a:r>
            <a:r>
              <a:rPr lang="en-ID" dirty="0"/>
              <a:t> </a:t>
            </a:r>
            <a:r>
              <a:rPr lang="en-ID" dirty="0" err="1"/>
              <a:t>kelemahan</a:t>
            </a:r>
            <a:r>
              <a:rPr lang="en-ID" dirty="0"/>
              <a:t> yang </a:t>
            </a:r>
            <a:r>
              <a:rPr lang="en-ID" dirty="0" err="1"/>
              <a:t>ditemukan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sv-SE" b="1" dirty="0"/>
              <a:t>Format dan Penyajian Laporan</a:t>
            </a:r>
            <a:endParaRPr lang="sv-SE" dirty="0"/>
          </a:p>
          <a:p>
            <a:pPr>
              <a:buFont typeface="Arial" panose="020B0604020202020204" pitchFamily="34" charset="0"/>
              <a:buChar char="•"/>
            </a:pPr>
            <a:r>
              <a:rPr lang="sv-SE" dirty="0"/>
              <a:t>Mengikuti standar pelaporan yang mencakup tujuan, ruang lingkup, metodologi, temuan, rekomendasi, dan kesimpulan​.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576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8E72-086D-B71B-F6E3-01B8E272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: Audit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Bank XYZ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4D13-1017-EF23-0396-164EDDB5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 err="1"/>
              <a:t>Latar</a:t>
            </a:r>
            <a:r>
              <a:rPr lang="en-ID" b="1" dirty="0"/>
              <a:t> </a:t>
            </a:r>
            <a:r>
              <a:rPr lang="en-ID" b="1" dirty="0" err="1"/>
              <a:t>Belakang</a:t>
            </a:r>
            <a:endParaRPr lang="en-ID" b="1" dirty="0"/>
          </a:p>
          <a:p>
            <a:r>
              <a:rPr lang="en-ID" dirty="0"/>
              <a:t>Bank XYZ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peningkatan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peretasan</a:t>
            </a:r>
            <a:r>
              <a:rPr lang="en-ID" dirty="0"/>
              <a:t> yang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ilegal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. Auditor TI </a:t>
            </a:r>
            <a:r>
              <a:rPr lang="en-ID" dirty="0" err="1"/>
              <a:t>ditugaskan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audit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guna</a:t>
            </a:r>
            <a:r>
              <a:rPr lang="en-ID" dirty="0"/>
              <a:t> </a:t>
            </a:r>
            <a:r>
              <a:rPr lang="en-ID" dirty="0" err="1"/>
              <a:t>menilai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dan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566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E510-2274-B3A1-6E46-DC41D1D4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Langkah-Langkah Audit dan </a:t>
            </a:r>
            <a:r>
              <a:rPr lang="en-ID" b="1" dirty="0" err="1"/>
              <a:t>Rekapitulasi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CF9E9-979B-C8EE-17D2-B3FF43B32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+mj-lt"/>
              <a:buAutoNum type="arabicPeriod"/>
            </a:pPr>
            <a:r>
              <a:rPr lang="en-ID" b="1" dirty="0" err="1"/>
              <a:t>Pengumpulan</a:t>
            </a:r>
            <a:r>
              <a:rPr lang="en-ID" b="1" dirty="0"/>
              <a:t> Bukti</a:t>
            </a:r>
            <a:endParaRPr lang="en-ID" dirty="0"/>
          </a:p>
          <a:p>
            <a:pPr marL="742950" lvl="1" indent="-285750">
              <a:buFont typeface="+mj-lt"/>
              <a:buAutoNum type="arabicPeriod"/>
            </a:pPr>
            <a:r>
              <a:rPr lang="en-ID" dirty="0"/>
              <a:t>Auditor </a:t>
            </a:r>
            <a:r>
              <a:rPr lang="en-ID" dirty="0" err="1"/>
              <a:t>mengumpulkan</a:t>
            </a:r>
            <a:r>
              <a:rPr lang="en-ID" dirty="0"/>
              <a:t> log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dan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enam</a:t>
            </a:r>
            <a:r>
              <a:rPr lang="en-ID" dirty="0"/>
              <a:t> 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terakhir</a:t>
            </a:r>
            <a:r>
              <a:rPr lang="en-ID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wawancara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IT dan </a:t>
            </a:r>
            <a:r>
              <a:rPr lang="en-ID" dirty="0" err="1"/>
              <a:t>peninjauan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siber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b="1" dirty="0" err="1"/>
              <a:t>Analisis</a:t>
            </a:r>
            <a:r>
              <a:rPr lang="en-ID" b="1" dirty="0"/>
              <a:t> Data</a:t>
            </a:r>
            <a:endParaRPr lang="en-ID" dirty="0"/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Menggunakan</a:t>
            </a:r>
            <a:r>
              <a:rPr lang="en-ID" dirty="0"/>
              <a:t> CAAT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anomali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keefektifan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firewall dan </a:t>
            </a:r>
            <a:r>
              <a:rPr lang="en-ID" dirty="0" err="1"/>
              <a:t>enkripsi</a:t>
            </a:r>
            <a:r>
              <a:rPr lang="en-ID" dirty="0"/>
              <a:t> data.</a:t>
            </a:r>
          </a:p>
          <a:p>
            <a:pPr>
              <a:buFont typeface="+mj-lt"/>
              <a:buAutoNum type="arabicPeriod"/>
            </a:pPr>
            <a:r>
              <a:rPr lang="en-ID" b="1" dirty="0" err="1"/>
              <a:t>Rekapitulasi</a:t>
            </a:r>
            <a:r>
              <a:rPr lang="en-ID" b="1" dirty="0"/>
              <a:t> </a:t>
            </a:r>
            <a:r>
              <a:rPr lang="en-ID" b="1" dirty="0" err="1"/>
              <a:t>Temuan</a:t>
            </a:r>
            <a:endParaRPr lang="en-ID" dirty="0"/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Ditemukan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 administrator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hak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penuh</a:t>
            </a:r>
            <a:r>
              <a:rPr lang="en-ID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Kebijakan</a:t>
            </a:r>
            <a:r>
              <a:rPr lang="en-ID" dirty="0"/>
              <a:t> kata </a:t>
            </a:r>
            <a:r>
              <a:rPr lang="en-ID" dirty="0" err="1"/>
              <a:t>sandi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 </a:t>
            </a:r>
            <a:r>
              <a:rPr lang="en-ID" i="1" dirty="0"/>
              <a:t>brute force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b="1" dirty="0" err="1"/>
              <a:t>Penyusunan</a:t>
            </a:r>
            <a:r>
              <a:rPr lang="en-ID" b="1" dirty="0"/>
              <a:t> </a:t>
            </a:r>
            <a:r>
              <a:rPr lang="en-ID" b="1" dirty="0" err="1"/>
              <a:t>Laporan</a:t>
            </a:r>
            <a:r>
              <a:rPr lang="en-ID" b="1" dirty="0"/>
              <a:t> Audit</a:t>
            </a:r>
            <a:endParaRPr lang="en-ID" dirty="0"/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menyatakan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kelemahan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diberikan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mengimplementasikan</a:t>
            </a:r>
            <a:r>
              <a:rPr lang="en-ID" dirty="0"/>
              <a:t> </a:t>
            </a:r>
            <a:r>
              <a:rPr lang="en-ID" dirty="0" err="1"/>
              <a:t>autentikasi</a:t>
            </a:r>
            <a:r>
              <a:rPr lang="en-ID" dirty="0"/>
              <a:t> </a:t>
            </a:r>
            <a:r>
              <a:rPr lang="en-ID" dirty="0" err="1"/>
              <a:t>multifaktor</a:t>
            </a:r>
            <a:r>
              <a:rPr lang="en-ID" dirty="0"/>
              <a:t> dan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kata </a:t>
            </a:r>
            <a:r>
              <a:rPr lang="en-ID" dirty="0" err="1"/>
              <a:t>sandi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b="1" dirty="0" err="1"/>
              <a:t>Tindak</a:t>
            </a:r>
            <a:r>
              <a:rPr lang="en-ID" b="1" dirty="0"/>
              <a:t> </a:t>
            </a:r>
            <a:r>
              <a:rPr lang="en-ID" b="1" dirty="0" err="1"/>
              <a:t>Lanjut</a:t>
            </a:r>
            <a:endParaRPr lang="en-ID" dirty="0"/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bulan</a:t>
            </a:r>
            <a:r>
              <a:rPr lang="en-ID" dirty="0"/>
              <a:t>, audit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menilai</a:t>
            </a:r>
            <a:r>
              <a:rPr lang="en-ID" dirty="0"/>
              <a:t> </a:t>
            </a:r>
            <a:r>
              <a:rPr lang="en-ID" dirty="0" err="1"/>
              <a:t>efektivitas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/>
              <a:t>Bank XYZ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autentikasi</a:t>
            </a:r>
            <a:r>
              <a:rPr lang="en-ID" dirty="0"/>
              <a:t> </a:t>
            </a:r>
            <a:r>
              <a:rPr lang="en-ID" dirty="0" err="1"/>
              <a:t>multifaktor</a:t>
            </a:r>
            <a:r>
              <a:rPr lang="en-ID" dirty="0"/>
              <a:t> dan </a:t>
            </a:r>
            <a:r>
              <a:rPr lang="en-ID" dirty="0" err="1"/>
              <a:t>menghapus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 administrator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​.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7980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0C8-A1F2-589C-D81D-D2DBE27D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Pembahasan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A2E18-E8EE-25D1-F61E-13F836C64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Dari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,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disimpulkan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b="1" dirty="0" err="1"/>
              <a:t>rekapitulasi</a:t>
            </a:r>
            <a:r>
              <a:rPr lang="en-ID" b="1" dirty="0"/>
              <a:t> audit </a:t>
            </a: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informasi</a:t>
            </a:r>
            <a:r>
              <a:rPr lang="en-ID" b="1" dirty="0"/>
              <a:t> sangat </a:t>
            </a:r>
            <a:r>
              <a:rPr lang="en-ID" b="1" dirty="0" err="1"/>
              <a:t>berguna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mengidentifikasi</a:t>
            </a:r>
            <a:r>
              <a:rPr lang="en-ID" b="1" dirty="0"/>
              <a:t> </a:t>
            </a:r>
            <a:r>
              <a:rPr lang="en-ID" b="1" dirty="0" err="1"/>
              <a:t>kelemahan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b="1" dirty="0"/>
              <a:t> dan </a:t>
            </a:r>
            <a:r>
              <a:rPr lang="en-ID" b="1" dirty="0" err="1"/>
              <a:t>memberikan</a:t>
            </a:r>
            <a:r>
              <a:rPr lang="en-ID" b="1" dirty="0"/>
              <a:t> </a:t>
            </a:r>
            <a:r>
              <a:rPr lang="en-ID" b="1" dirty="0" err="1"/>
              <a:t>rekomendasi</a:t>
            </a:r>
            <a:r>
              <a:rPr lang="en-ID" b="1" dirty="0"/>
              <a:t> yang </a:t>
            </a:r>
            <a:r>
              <a:rPr lang="en-ID" b="1" dirty="0" err="1"/>
              <a:t>tepat</a:t>
            </a:r>
            <a:r>
              <a:rPr lang="en-ID" dirty="0"/>
              <a:t>. Teknik-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pengumpulan</a:t>
            </a:r>
            <a:r>
              <a:rPr lang="en-ID" dirty="0"/>
              <a:t> </a:t>
            </a:r>
            <a:r>
              <a:rPr lang="en-ID" dirty="0" err="1"/>
              <a:t>bukti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 data,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penyusunan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auditor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menyajikan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audit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profesional</a:t>
            </a:r>
            <a:r>
              <a:rPr lang="en-ID" dirty="0"/>
              <a:t>.</a:t>
            </a:r>
          </a:p>
          <a:p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b="1" dirty="0"/>
              <a:t>SASI IASII dan SKKNI Auditor TI</a:t>
            </a:r>
            <a:r>
              <a:rPr lang="en-ID" dirty="0"/>
              <a:t>, auditor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audit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, </a:t>
            </a:r>
            <a:r>
              <a:rPr lang="en-ID" dirty="0" err="1"/>
              <a:t>akurat</a:t>
            </a:r>
            <a:r>
              <a:rPr lang="en-ID" dirty="0"/>
              <a:t>, dan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tambah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​​.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4157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9E84-34E9-4131-1098-DB1611B5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E99D-6809-C8A6-2017-7E40D5FA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Rekapitulasi</a:t>
            </a:r>
            <a:r>
              <a:rPr lang="en-ID" dirty="0"/>
              <a:t> audit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kritis</a:t>
            </a:r>
            <a:r>
              <a:rPr lang="en-ID" dirty="0"/>
              <a:t> yang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penyusunan</a:t>
            </a:r>
            <a:r>
              <a:rPr lang="en-ID" dirty="0"/>
              <a:t> </a:t>
            </a:r>
            <a:r>
              <a:rPr lang="en-ID" dirty="0" err="1"/>
              <a:t>temuan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 data, dan </a:t>
            </a:r>
            <a:r>
              <a:rPr lang="en-ID" dirty="0" err="1"/>
              <a:t>pelaporan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audit.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, auditor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audit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yang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dan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di </a:t>
            </a:r>
            <a:r>
              <a:rPr lang="en-ID" dirty="0" err="1"/>
              <a:t>organisasi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249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2F85-F543-7FC7-2025-24868D4E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97B73-BFE7-25F6-67B5-70157CE51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2" action="ppaction://hlinkfile"/>
              </a:rPr>
              <a:t>Contoh</a:t>
            </a:r>
            <a:r>
              <a:rPr lang="en-US" dirty="0">
                <a:hlinkClick r:id="rId2" action="ppaction://hlinkfile"/>
              </a:rPr>
              <a:t> </a:t>
            </a:r>
            <a:r>
              <a:rPr lang="en-US" dirty="0" err="1">
                <a:hlinkClick r:id="rId2" action="ppaction://hlinkfile"/>
              </a:rPr>
              <a:t>Laporan</a:t>
            </a:r>
            <a:r>
              <a:rPr lang="en-US" dirty="0">
                <a:hlinkClick r:id="rId2" action="ppaction://hlinkfile"/>
              </a:rPr>
              <a:t> dan </a:t>
            </a:r>
            <a:r>
              <a:rPr lang="en-US" dirty="0" err="1">
                <a:hlinkClick r:id="rId2" action="ppaction://hlinkfile"/>
              </a:rPr>
              <a:t>Tindak</a:t>
            </a:r>
            <a:r>
              <a:rPr lang="en-US" dirty="0">
                <a:hlinkClick r:id="rId2" action="ppaction://hlinkfile"/>
              </a:rPr>
              <a:t> </a:t>
            </a:r>
            <a:r>
              <a:rPr lang="en-US" dirty="0" err="1">
                <a:hlinkClick r:id="rId2" action="ppaction://hlinkfile"/>
              </a:rPr>
              <a:t>Lanjutnya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1410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610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Teknik Rekapitulasi Audit Sistem Informasi</vt:lpstr>
      <vt:lpstr>PowerPoint Presentation</vt:lpstr>
      <vt:lpstr>A. Pengumpulan dan Klasifikasi Bukti Audit</vt:lpstr>
      <vt:lpstr>B. Analisis Data Audit</vt:lpstr>
      <vt:lpstr>C. Penyusunan Laporan Audit</vt:lpstr>
      <vt:lpstr>Studi Kasus: Audit Sistem Keamanan Jaringan Bank XYZ</vt:lpstr>
      <vt:lpstr>Langkah-Langkah Audit dan Rekapitulasi</vt:lpstr>
      <vt:lpstr>Pembahasan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Tri Hidayat</dc:creator>
  <cp:lastModifiedBy>Ahmad Tri Hidayat</cp:lastModifiedBy>
  <cp:revision>2</cp:revision>
  <dcterms:created xsi:type="dcterms:W3CDTF">2025-03-07T04:23:51Z</dcterms:created>
  <dcterms:modified xsi:type="dcterms:W3CDTF">2025-03-07T04:33:10Z</dcterms:modified>
</cp:coreProperties>
</file>